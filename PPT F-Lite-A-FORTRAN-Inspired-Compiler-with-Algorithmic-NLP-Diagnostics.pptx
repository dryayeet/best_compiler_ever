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4630400" cy="8229600"/>
  <p:notesSz cx="8229600" cy="14630400"/>
  <p:embeddedFontLst>
    <p:embeddedFont>
      <p:font typeface="Consolas" panose="020B0609020204030204" pitchFamily="49" charset="0"/>
      <p:regular r:id="rId9"/>
      <p:bold r:id="rId10"/>
      <p:italic r:id="rId11"/>
      <p:boldItalic r:id="rId12"/>
    </p:embeddedFont>
    <p:embeddedFont>
      <p:font typeface="Inconsolata" pitchFamily="1" charset="0"/>
      <p:regular r:id="rId13"/>
    </p:embeddedFont>
    <p:embeddedFont>
      <p:font typeface="Montserrat Black" panose="020F0502020204030204" pitchFamily="2" charset="0"/>
      <p:regular r:id="rId14"/>
    </p:embeddedFont>
    <p:embeddedFont>
      <p:font typeface="Montserrat Light" panose="00000400000000000000" pitchFamily="2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EC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68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92171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705922"/>
            <a:ext cx="7556421" cy="1700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F-Lite: A FORTRAN-Inspired Compiler with Algorithmic NLP Diagnostics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6280190" y="2464832"/>
            <a:ext cx="7556421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 Zero-Dependency Implementation of a Full Compiler Pipeline</a:t>
            </a:r>
            <a:endParaRPr lang="en-US" sz="2850" dirty="0"/>
          </a:p>
        </p:txBody>
      </p:sp>
      <p:sp>
        <p:nvSpPr>
          <p:cNvPr id="5" name="Shape 2"/>
          <p:cNvSpPr/>
          <p:nvPr/>
        </p:nvSpPr>
        <p:spPr>
          <a:xfrm>
            <a:off x="6280190" y="3589734"/>
            <a:ext cx="7556421" cy="1301591"/>
          </a:xfrm>
          <a:prstGeom prst="roundRect">
            <a:avLst>
              <a:gd name="adj" fmla="val 8430"/>
            </a:avLst>
          </a:prstGeom>
          <a:solidFill>
            <a:srgbClr val="F8ECE4"/>
          </a:solidFill>
          <a:ln w="22860">
            <a:solidFill>
              <a:srgbClr val="151617"/>
            </a:solidFill>
            <a:prstDash val="solid"/>
          </a:ln>
          <a:effectLst>
            <a:outerShdw dist="2286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6257330" y="3589734"/>
            <a:ext cx="91440" cy="1301591"/>
          </a:xfrm>
          <a:prstGeom prst="roundRect">
            <a:avLst>
              <a:gd name="adj" fmla="val 10000"/>
            </a:avLst>
          </a:prstGeom>
          <a:solidFill>
            <a:srgbClr val="1516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6553081" y="3794046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Objective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553081" y="4164568"/>
            <a:ext cx="7079218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Demonstrate a deep understanding of compiler theory by building a scanner, parser, and code generator from scratch in C++14.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80190" y="5036463"/>
            <a:ext cx="7556421" cy="1301591"/>
          </a:xfrm>
          <a:prstGeom prst="roundRect">
            <a:avLst>
              <a:gd name="adj" fmla="val 8430"/>
            </a:avLst>
          </a:prstGeom>
          <a:solidFill>
            <a:srgbClr val="F8ECE4"/>
          </a:solidFill>
          <a:ln w="22860">
            <a:solidFill>
              <a:srgbClr val="151617"/>
            </a:solidFill>
            <a:prstDash val="solid"/>
          </a:ln>
          <a:effectLst>
            <a:outerShdw dist="2286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6257330" y="5036463"/>
            <a:ext cx="91440" cy="1301591"/>
          </a:xfrm>
          <a:prstGeom prst="roundRect">
            <a:avLst>
              <a:gd name="adj" fmla="val 10000"/>
            </a:avLst>
          </a:prstGeom>
          <a:solidFill>
            <a:srgbClr val="1516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6553081" y="5240774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Key Innovation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6553081" y="5611297"/>
            <a:ext cx="7079218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Integration of "Light NLP" algorithms (Levenshtein Distance and Bigram Hinting) to improve developer experience through smart diagnostics.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280190" y="6483191"/>
            <a:ext cx="7556421" cy="1040368"/>
          </a:xfrm>
          <a:prstGeom prst="roundRect">
            <a:avLst>
              <a:gd name="adj" fmla="val 10547"/>
            </a:avLst>
          </a:prstGeom>
          <a:solidFill>
            <a:srgbClr val="F8ECE4"/>
          </a:solidFill>
          <a:ln w="22860">
            <a:solidFill>
              <a:srgbClr val="151617"/>
            </a:solidFill>
            <a:prstDash val="solid"/>
          </a:ln>
          <a:effectLst>
            <a:outerShdw dist="2286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6257330" y="6483191"/>
            <a:ext cx="91440" cy="1040368"/>
          </a:xfrm>
          <a:prstGeom prst="roundRect">
            <a:avLst>
              <a:gd name="adj" fmla="val 10000"/>
            </a:avLst>
          </a:prstGeom>
          <a:solidFill>
            <a:srgbClr val="1516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6553081" y="6687503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Platform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6553081" y="7058025"/>
            <a:ext cx="7079218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Features both a CLI tool and an interactive web-based visualizer.</a:t>
            </a:r>
            <a:endParaRPr lang="en-US" sz="14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16F597-9E0B-09BC-948C-445E78456884}"/>
              </a:ext>
            </a:extLst>
          </p:cNvPr>
          <p:cNvSpPr/>
          <p:nvPr/>
        </p:nvSpPr>
        <p:spPr>
          <a:xfrm>
            <a:off x="12801600" y="7649157"/>
            <a:ext cx="1733384" cy="516835"/>
          </a:xfrm>
          <a:prstGeom prst="rect">
            <a:avLst/>
          </a:prstGeom>
          <a:solidFill>
            <a:srgbClr val="F8ECE4"/>
          </a:solidFill>
          <a:ln>
            <a:solidFill>
              <a:srgbClr val="F8EC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72108"/>
            <a:ext cx="8969097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Language Specification &amp; Architecture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793790" y="1254681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The F-Lite DSL</a:t>
            </a:r>
            <a:endParaRPr lang="en-US" sz="2650" dirty="0"/>
          </a:p>
        </p:txBody>
      </p:sp>
      <p:sp>
        <p:nvSpPr>
          <p:cNvPr id="4" name="Shape 2"/>
          <p:cNvSpPr/>
          <p:nvPr/>
        </p:nvSpPr>
        <p:spPr>
          <a:xfrm>
            <a:off x="671274" y="1871305"/>
            <a:ext cx="6558915" cy="5686187"/>
          </a:xfrm>
          <a:prstGeom prst="roundRect">
            <a:avLst>
              <a:gd name="adj" fmla="val 161"/>
            </a:avLst>
          </a:prstGeom>
          <a:solidFill>
            <a:srgbClr val="1516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41296" y="1998821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Inspiration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841296" y="2392085"/>
            <a:ext cx="6218873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Captures the spirit of FORTRAN (imperative, line-based, case-insensitive).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96" y="2995851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Core Features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41296" y="3389114"/>
            <a:ext cx="6218873" cy="1369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32-bit integers</a:t>
            </a:r>
            <a:endParaRPr lang="en-US" sz="13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1D arrays</a:t>
            </a:r>
            <a:endParaRPr lang="en-US" sz="13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IF/THEN/ELSE logic</a:t>
            </a:r>
            <a:endParaRPr lang="en-US" sz="13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DO loops</a:t>
            </a:r>
            <a:endParaRPr lang="en-US" sz="13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Subroutines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530346" y="1998821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The Pipeline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7530346" y="2408039"/>
            <a:ext cx="170021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530346" y="2674263"/>
            <a:ext cx="6313884" cy="22860"/>
          </a:xfrm>
          <a:prstGeom prst="rect">
            <a:avLst/>
          </a:prstGeom>
          <a:solidFill>
            <a:srgbClr val="1516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530346" y="2804993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Lexical Analysis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7530346" y="3198257"/>
            <a:ext cx="631388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DFA-based scanner (no Flex).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530346" y="3691414"/>
            <a:ext cx="170021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530346" y="3957638"/>
            <a:ext cx="6313884" cy="22860"/>
          </a:xfrm>
          <a:prstGeom prst="rect">
            <a:avLst/>
          </a:prstGeom>
          <a:solidFill>
            <a:srgbClr val="1516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530346" y="4088368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Syntax Analysis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7530346" y="4481632"/>
            <a:ext cx="631388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Recursive Descent Parser (no Bison).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530346" y="4974788"/>
            <a:ext cx="170021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530346" y="5241012"/>
            <a:ext cx="6313884" cy="22860"/>
          </a:xfrm>
          <a:prstGeom prst="rect">
            <a:avLst/>
          </a:prstGeom>
          <a:solidFill>
            <a:srgbClr val="1516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530346" y="5371743"/>
            <a:ext cx="3347085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Intermediate Representation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7530346" y="5765006"/>
            <a:ext cx="631388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Three-Address Code (TAC).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530346" y="6258163"/>
            <a:ext cx="170021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530346" y="6524387"/>
            <a:ext cx="6313884" cy="22860"/>
          </a:xfrm>
          <a:prstGeom prst="rect">
            <a:avLst/>
          </a:prstGeom>
          <a:solidFill>
            <a:srgbClr val="1516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7530346" y="6655118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Backend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7530346" y="7048381"/>
            <a:ext cx="631388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Target Assembly generation for a virtual 4-register machine.</a:t>
            </a:r>
            <a:endParaRPr lang="en-US" sz="13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515BAFE-36CB-78ED-2692-2FAFA9E182D4}"/>
              </a:ext>
            </a:extLst>
          </p:cNvPr>
          <p:cNvSpPr/>
          <p:nvPr/>
        </p:nvSpPr>
        <p:spPr>
          <a:xfrm>
            <a:off x="12801600" y="7649157"/>
            <a:ext cx="1733384" cy="516835"/>
          </a:xfrm>
          <a:prstGeom prst="rect">
            <a:avLst/>
          </a:prstGeom>
          <a:solidFill>
            <a:srgbClr val="F8ECE4"/>
          </a:solidFill>
          <a:ln>
            <a:solidFill>
              <a:srgbClr val="F8EC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076801"/>
            <a:ext cx="7030998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Lexical &amp; Syntax Analysis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793790" y="1788200"/>
            <a:ext cx="7455813" cy="510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Manual Frontend Implementation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793790" y="2574012"/>
            <a:ext cx="7556421" cy="1862733"/>
          </a:xfrm>
          <a:prstGeom prst="roundRect">
            <a:avLst>
              <a:gd name="adj" fmla="val 491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2667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1005483" y="2785705"/>
            <a:ext cx="3097887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Scanner (scanner.cpp)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005483" y="3214688"/>
            <a:ext cx="7133034" cy="1010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Handles case-insensitivity and FORTRAN-style operators (e.g., </a:t>
            </a:r>
            <a:r>
              <a:rPr lang="en-US" sz="160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.LT.</a:t>
            </a: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, </a:t>
            </a:r>
            <a:r>
              <a:rPr lang="en-US" sz="160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.GE.</a:t>
            </a: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).</a:t>
            </a:r>
            <a:endParaRPr lang="en-US" sz="160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Implements a custom DFA for identifiers, literals, and strings.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93790" y="4620458"/>
            <a:ext cx="7556421" cy="2532340"/>
          </a:xfrm>
          <a:prstGeom prst="roundRect">
            <a:avLst>
              <a:gd name="adj" fmla="val 361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2667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1005483" y="4832152"/>
            <a:ext cx="2632710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Parser (parser.cpp)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005483" y="5261134"/>
            <a:ext cx="7133034" cy="1679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Uses a Recursive Descent strategy based on EBNF grammar.</a:t>
            </a:r>
            <a:endParaRPr lang="en-US" sz="160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Panic-Mode Recovery:</a:t>
            </a: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Synchronizes at line boundaries or keywords to report multiple errors per pass.</a:t>
            </a:r>
            <a:endParaRPr lang="en-US" sz="160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Syntax-Directed Translation:</a:t>
            </a: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Emits TAC instructions directly during parsing.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53158"/>
            <a:ext cx="831925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NLP-Enhanced Diagnostics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252663"/>
            <a:ext cx="5668447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Improving Error Clarity</a:t>
            </a:r>
            <a:endParaRPr lang="en-US" sz="3550" dirty="0"/>
          </a:p>
        </p:txBody>
      </p:sp>
      <p:sp>
        <p:nvSpPr>
          <p:cNvPr id="4" name="Text 2"/>
          <p:cNvSpPr/>
          <p:nvPr/>
        </p:nvSpPr>
        <p:spPr>
          <a:xfrm>
            <a:off x="793790" y="3386614"/>
            <a:ext cx="331910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Levenshtein Distance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3967758"/>
            <a:ext cx="6244709" cy="15461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Measures the "edit distance" between unknown tokens and reserved keywords.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Automatically suggests corrections (e.g., "Did you mean </a:t>
            </a:r>
            <a:r>
              <a:rPr lang="en-US" sz="175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INTEGER</a:t>
            </a: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?" for the typo </a:t>
            </a:r>
            <a:r>
              <a:rPr lang="en-US" sz="175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INTGER</a:t>
            </a: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).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436168" y="3159800"/>
            <a:ext cx="6571417" cy="3616643"/>
          </a:xfrm>
          <a:prstGeom prst="roundRect">
            <a:avLst>
              <a:gd name="adj" fmla="val 253"/>
            </a:avLst>
          </a:prstGeom>
          <a:solidFill>
            <a:srgbClr val="1516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662982" y="3386614"/>
            <a:ext cx="339506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Bigram-Based Hinting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62982" y="3967758"/>
            <a:ext cx="6117788" cy="2729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 deterministic model derived from the formal grammar.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Predicts what </a:t>
            </a:r>
            <a:r>
              <a:rPr lang="en-US" sz="1750" i="1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should</a:t>
            </a:r>
            <a:r>
              <a:rPr lang="en-US" sz="175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have followed based on the previous token.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Example:</a:t>
            </a:r>
            <a:r>
              <a:rPr lang="en-US" sz="175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After an </a:t>
            </a:r>
            <a:r>
              <a:rPr lang="en-US" sz="1750" dirty="0">
                <a:solidFill>
                  <a:srgbClr val="FFFFFF"/>
                </a:solidFill>
                <a:highlight>
                  <a:srgbClr val="22232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75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keyword, the compiler explicitly hints that an open parenthesis </a:t>
            </a:r>
            <a:r>
              <a:rPr lang="en-US" sz="1750" dirty="0">
                <a:solidFill>
                  <a:srgbClr val="FFFFFF"/>
                </a:solidFill>
                <a:highlight>
                  <a:srgbClr val="22232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75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is expected.</a:t>
            </a:r>
            <a:endParaRPr lang="en-US" sz="175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6B5219-ABA9-BD5B-35F0-4B16F7B2EDF1}"/>
              </a:ext>
            </a:extLst>
          </p:cNvPr>
          <p:cNvSpPr/>
          <p:nvPr/>
        </p:nvSpPr>
        <p:spPr>
          <a:xfrm>
            <a:off x="12801600" y="7649157"/>
            <a:ext cx="1733384" cy="516835"/>
          </a:xfrm>
          <a:prstGeom prst="rect">
            <a:avLst/>
          </a:prstGeom>
          <a:solidFill>
            <a:srgbClr val="F8ECE4"/>
          </a:solidFill>
          <a:ln>
            <a:solidFill>
              <a:srgbClr val="F8EC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82779"/>
            <a:ext cx="1211806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Intermediate &amp; Target Code Generation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082284"/>
            <a:ext cx="6288881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From Source to Assembly</a:t>
            </a:r>
            <a:endParaRPr lang="en-US" sz="3550" dirty="0"/>
          </a:p>
        </p:txBody>
      </p:sp>
      <p:sp>
        <p:nvSpPr>
          <p:cNvPr id="4" name="Shape 2"/>
          <p:cNvSpPr/>
          <p:nvPr/>
        </p:nvSpPr>
        <p:spPr>
          <a:xfrm>
            <a:off x="793790" y="2989421"/>
            <a:ext cx="4196358" cy="3957399"/>
          </a:xfrm>
          <a:prstGeom prst="roundRect">
            <a:avLst>
              <a:gd name="adj" fmla="val 231"/>
            </a:avLst>
          </a:prstGeom>
          <a:solidFill>
            <a:srgbClr val="F8ECE4"/>
          </a:solidFill>
          <a:ln w="30480">
            <a:solidFill>
              <a:srgbClr val="151617"/>
            </a:solidFill>
            <a:prstDash val="solid"/>
          </a:ln>
          <a:effectLst>
            <a:outerShdw dist="2921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24270" y="3019901"/>
            <a:ext cx="4135398" cy="680442"/>
          </a:xfrm>
          <a:prstGeom prst="rect">
            <a:avLst/>
          </a:prstGeom>
          <a:solidFill>
            <a:srgbClr val="F8ECE4"/>
          </a:solidFill>
          <a:ln/>
          <a:effectLst>
            <a:outerShdw dist="2921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051084" y="3927157"/>
            <a:ext cx="368177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Three-Address Code (TAC)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084" y="4771906"/>
            <a:ext cx="3681770" cy="1530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Flattens complex expressions into simple  instructions.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Simplifies control flow into labels and conditional jumps.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2989421"/>
            <a:ext cx="4196358" cy="3957399"/>
          </a:xfrm>
          <a:prstGeom prst="roundRect">
            <a:avLst>
              <a:gd name="adj" fmla="val 231"/>
            </a:avLst>
          </a:prstGeom>
          <a:solidFill>
            <a:srgbClr val="F8ECE4"/>
          </a:solidFill>
          <a:ln w="30480">
            <a:solidFill>
              <a:srgbClr val="151617"/>
            </a:solidFill>
            <a:prstDash val="solid"/>
          </a:ln>
          <a:effectLst>
            <a:outerShdw dist="2921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247442" y="3019901"/>
            <a:ext cx="4135398" cy="680442"/>
          </a:xfrm>
          <a:prstGeom prst="rect">
            <a:avLst/>
          </a:prstGeom>
          <a:solidFill>
            <a:srgbClr val="F8ECE4"/>
          </a:solidFill>
          <a:ln/>
          <a:effectLst>
            <a:outerShdw dist="2921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474256" y="39271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Target Assembly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74256" y="4417576"/>
            <a:ext cx="3681770" cy="2271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Translates TAC into a low-level instruction set (</a:t>
            </a:r>
            <a:r>
              <a:rPr lang="en-US" sz="175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LOAD</a:t>
            </a: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, </a:t>
            </a:r>
            <a:r>
              <a:rPr lang="en-US" sz="175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STORE</a:t>
            </a: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, </a:t>
            </a:r>
            <a:r>
              <a:rPr lang="en-US" sz="175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CMP</a:t>
            </a: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, </a:t>
            </a:r>
            <a:r>
              <a:rPr lang="en-US" sz="175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JMP</a:t>
            </a: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).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Manages a limited register set (–) and basic stack operations for subroutines.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2989421"/>
            <a:ext cx="4196358" cy="3957399"/>
          </a:xfrm>
          <a:prstGeom prst="roundRect">
            <a:avLst>
              <a:gd name="adj" fmla="val 231"/>
            </a:avLst>
          </a:prstGeom>
          <a:solidFill>
            <a:srgbClr val="F8ECE4"/>
          </a:solidFill>
          <a:ln w="30480">
            <a:solidFill>
              <a:srgbClr val="151617"/>
            </a:solidFill>
            <a:prstDash val="solid"/>
          </a:ln>
          <a:effectLst>
            <a:outerShdw dist="2921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9670613" y="3019901"/>
            <a:ext cx="4135398" cy="680442"/>
          </a:xfrm>
          <a:prstGeom prst="rect">
            <a:avLst/>
          </a:prstGeom>
          <a:solidFill>
            <a:srgbClr val="F8ECE4"/>
          </a:solidFill>
          <a:ln/>
          <a:effectLst>
            <a:outerShdw dist="2921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9897427" y="39271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Listing File (.lst)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897427" y="4417576"/>
            <a:ext cx="368177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Generates an annotated output file where errors are interleaved directly with source code.</a:t>
            </a:r>
            <a:endParaRPr lang="en-US" sz="17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3F29755-5DB1-EC48-586B-EBA72335EE09}"/>
              </a:ext>
            </a:extLst>
          </p:cNvPr>
          <p:cNvSpPr/>
          <p:nvPr/>
        </p:nvSpPr>
        <p:spPr>
          <a:xfrm>
            <a:off x="12801600" y="7649157"/>
            <a:ext cx="1733384" cy="516835"/>
          </a:xfrm>
          <a:prstGeom prst="rect">
            <a:avLst/>
          </a:prstGeom>
          <a:solidFill>
            <a:srgbClr val="F8ECE4"/>
          </a:solidFill>
          <a:ln>
            <a:solidFill>
              <a:srgbClr val="F8EC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653177"/>
            <a:ext cx="5701427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Interactive Web Visualizer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793790" y="1193721"/>
            <a:ext cx="3175516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The Teaching Tool</a:t>
            </a:r>
            <a:endParaRPr lang="en-US" sz="25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1757243"/>
            <a:ext cx="396835" cy="39683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93790" y="2292906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Architecture</a:t>
            </a:r>
            <a:endParaRPr lang="en-US" sz="1550" dirty="0"/>
          </a:p>
        </p:txBody>
      </p:sp>
      <p:sp>
        <p:nvSpPr>
          <p:cNvPr id="7" name="Text 3"/>
          <p:cNvSpPr/>
          <p:nvPr/>
        </p:nvSpPr>
        <p:spPr>
          <a:xfrm>
            <a:off x="793790" y="2607588"/>
            <a:ext cx="7556421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 full JavaScript port of the C++ compiler engine running entirely in-browser.</a:t>
            </a:r>
            <a:endParaRPr lang="en-US" sz="12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3790" y="3045857"/>
            <a:ext cx="396835" cy="39683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93790" y="3581519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Phase Stepping</a:t>
            </a:r>
            <a:endParaRPr lang="en-US" sz="1550" dirty="0"/>
          </a:p>
        </p:txBody>
      </p:sp>
      <p:sp>
        <p:nvSpPr>
          <p:cNvPr id="10" name="Text 5"/>
          <p:cNvSpPr/>
          <p:nvPr/>
        </p:nvSpPr>
        <p:spPr>
          <a:xfrm>
            <a:off x="793790" y="3896201"/>
            <a:ext cx="7556421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Allows users to view the state of the compiler at every stage.</a:t>
            </a:r>
            <a:endParaRPr lang="en-US" sz="12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90" y="4334470"/>
            <a:ext cx="396835" cy="39683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93790" y="4870133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Visual Mapping</a:t>
            </a:r>
            <a:endParaRPr lang="en-US" sz="1550" dirty="0"/>
          </a:p>
        </p:txBody>
      </p:sp>
      <p:sp>
        <p:nvSpPr>
          <p:cNvPr id="13" name="Text 7"/>
          <p:cNvSpPr/>
          <p:nvPr/>
        </p:nvSpPr>
        <p:spPr>
          <a:xfrm>
            <a:off x="793790" y="5184815"/>
            <a:ext cx="7556421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Color-coded tokens, TAC instructions, and Assembly categories.</a:t>
            </a:r>
            <a:endParaRPr lang="en-US" sz="12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3790" y="5623084"/>
            <a:ext cx="396835" cy="39683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93790" y="6158746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Live Diagnostics</a:t>
            </a:r>
            <a:endParaRPr lang="en-US" sz="1550" dirty="0"/>
          </a:p>
        </p:txBody>
      </p:sp>
      <p:sp>
        <p:nvSpPr>
          <p:cNvPr id="16" name="Text 9"/>
          <p:cNvSpPr/>
          <p:nvPr/>
        </p:nvSpPr>
        <p:spPr>
          <a:xfrm>
            <a:off x="793790" y="6473428"/>
            <a:ext cx="7556421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Displays Levenshtein badges and bigram hints in an interactive UI.</a:t>
            </a:r>
            <a:endParaRPr lang="en-US" sz="1250" dirty="0"/>
          </a:p>
        </p:txBody>
      </p:sp>
      <p:sp>
        <p:nvSpPr>
          <p:cNvPr id="17" name="Shape 10"/>
          <p:cNvSpPr/>
          <p:nvPr/>
        </p:nvSpPr>
        <p:spPr>
          <a:xfrm>
            <a:off x="793790" y="6814423"/>
            <a:ext cx="7556421" cy="762000"/>
          </a:xfrm>
          <a:prstGeom prst="roundRect">
            <a:avLst>
              <a:gd name="adj" fmla="val 1200"/>
            </a:avLst>
          </a:prstGeom>
          <a:solidFill>
            <a:srgbClr val="D7D9D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2500" y="7033855"/>
            <a:ext cx="198358" cy="15871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309568" y="6965156"/>
            <a:ext cx="6881932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Conclusion:</a:t>
            </a:r>
            <a:r>
              <a:rPr lang="en-US" sz="125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F-Lite proves that robust, modern diagnostics can be integrated into low-level systems without external dependencies.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482</Words>
  <Application>Microsoft Office PowerPoint</Application>
  <PresentationFormat>Custom</PresentationFormat>
  <Paragraphs>76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Consolas</vt:lpstr>
      <vt:lpstr>Arial</vt:lpstr>
      <vt:lpstr>Montserrat Black</vt:lpstr>
      <vt:lpstr>Montserrat Light</vt:lpstr>
      <vt:lpstr>Inconsolata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Prajwal Pandey - 123142090 - MITBLR</cp:lastModifiedBy>
  <cp:revision>2</cp:revision>
  <dcterms:created xsi:type="dcterms:W3CDTF">2026-04-08T05:07:08Z</dcterms:created>
  <dcterms:modified xsi:type="dcterms:W3CDTF">2026-04-08T05:10:50Z</dcterms:modified>
</cp:coreProperties>
</file>